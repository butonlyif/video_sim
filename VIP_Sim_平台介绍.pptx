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05695" y="4572000"/>
            <a:ext cx="4114800" cy="411480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023259" y="0"/>
            <a:ext cx="4145176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8046519" y="0"/>
            <a:ext cx="4145176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VIDEO IP · SIMULATION &amp; VERIFICATION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78308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awesom 视频处理 IP 一站式仿真验证平台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731520" y="361188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611880"/>
            <a:ext cx="14264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脚手架建项目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32304" y="3611880"/>
            <a:ext cx="2157984" cy="384048"/>
          </a:xfrm>
          <a:prstGeom prst="roundRect">
            <a:avLst>
              <a:gd name="adj" fmla="val 50000"/>
            </a:avLst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32304" y="361188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iverilog 仿真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64608" y="3611880"/>
            <a:ext cx="1865376" cy="384048"/>
          </a:xfrm>
          <a:prstGeom prst="roundRect">
            <a:avLst>
              <a:gd name="adj" fmla="val 50000"/>
            </a:avLst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3611880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图像/视频质量分析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004304" y="361188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3611880"/>
            <a:ext cx="1280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金标准比对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5486400"/>
            <a:ext cx="5486400" cy="0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5778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Trae / VS Code 扩展 · 纯 JavaScript · 零外部依赖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362895" y="55778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v1.2.0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 IP 验证的痛点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 RTL 仿真流程中，验证一个图像处理 IP 有多难？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472288" y="1508760"/>
            <a:ext cx="2606040" cy="30175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2288" y="1508760"/>
            <a:ext cx="2606040" cy="54864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5268" y="178308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9448" y="2560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激励数据难准备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5168" y="301752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 只能读 $readmemh 文本，把真实图像转成像素 hex 全靠手写脚本，易出错且不可复用。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2648" y="1508760"/>
            <a:ext cx="2606040" cy="30175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52648" y="150876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628" y="1783080"/>
            <a:ext cx="640080" cy="6400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489808" y="2560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结果不可视化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3535528" y="301752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仿真输出是一堆 hex 数字，无法直接看到处理后的图像效果，只能靠人眼逐像素比对。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233008" y="1508760"/>
            <a:ext cx="2606040" cy="30175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33008" y="1508760"/>
            <a:ext cx="2606040" cy="54864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988" y="1783080"/>
            <a:ext cx="640080" cy="6400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70168" y="2560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没有自动判定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415888" y="301752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算法对不对，只能靠人肉检查波形或截图，缺乏标准化的 PASS/FAIL 自动判定。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9113368" y="1508760"/>
            <a:ext cx="2606040" cy="30175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13368" y="150876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6348" y="178308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250528" y="2560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工具链割裂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296248" y="301752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激励生成、仿真、波形、分析散落在不同工具中，缺乏统一入口，上手门槛高。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1371600" y="4892040"/>
            <a:ext cx="9448495" cy="868680"/>
          </a:xfrm>
          <a:prstGeom prst="rect">
            <a:avLst/>
          </a:prstGeom>
          <a:solidFill>
            <a:srgbClr val="223052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507492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2286000" y="5029200"/>
            <a:ext cx="8534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的目标：给一张图进去，拿到一张图出来，中间经过你的 IP，最后告诉你处理得好不好。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平台概览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一个面向视频 ISP IP 的「所见即所得」验证环境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4754880" cy="420624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64008" cy="420624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3736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554480" y="1783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端到端视频 IP 仿真环境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8680" y="246888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把图像/视频喂给你的 RTL IP，自动运行仿真，并用专业指标量化输出质量——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全部在 Trae 控制台里完成。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3657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554480" y="373075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统一入口（仿真控制台）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" y="42976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1554480" y="437083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已验证 ISP IP 课题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" y="49377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554480" y="5010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维图像质量分析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23560" y="1463040"/>
            <a:ext cx="2880360" cy="192024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23560" y="1463040"/>
            <a:ext cx="64008" cy="192024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8" y="1664208"/>
            <a:ext cx="384048" cy="38404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309360" y="162763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脚手架式工程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824728" y="2103120"/>
            <a:ext cx="2496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一条命令复制完整工具链 + BFM + 示例 DUT 到你的目录，自动建项目内 venv。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8686800" y="1463040"/>
            <a:ext cx="2880360" cy="192024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686800" y="1463040"/>
            <a:ext cx="64008" cy="19202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1664208"/>
            <a:ext cx="384048" cy="38404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372600" y="162763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金标准自动比对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887968" y="2103120"/>
            <a:ext cx="2496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 IP 按位参考模型，运行后直接出 PASS / FAIL 判定。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623560" y="3566160"/>
            <a:ext cx="2880360" cy="192024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623560" y="3566160"/>
            <a:ext cx="64008" cy="192024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767328"/>
            <a:ext cx="384048" cy="38404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309360" y="373075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可视化控制台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5824728" y="4206240"/>
            <a:ext cx="2496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Webview 界面：导入媒体、编辑寄存器、一键仿真、分析结果。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8686800" y="3566160"/>
            <a:ext cx="2880360" cy="192024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8686800" y="3566160"/>
            <a:ext cx="64008" cy="192024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3767328"/>
            <a:ext cx="384048" cy="38404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9372600" y="3730752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 + 视频双模</a:t>
            </a:r>
            <a:endParaRPr lang="en-US" sz="1400" dirty="0"/>
          </a:p>
        </p:txBody>
      </p:sp>
      <p:sp>
        <p:nvSpPr>
          <p:cNvPr id="38" name="Text 31"/>
          <p:cNvSpPr/>
          <p:nvPr/>
        </p:nvSpPr>
        <p:spPr>
          <a:xfrm>
            <a:off x="8887968" y="4206240"/>
            <a:ext cx="2496312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单帧或 MP4 流式逐帧仿真，逐帧预览 + 指标时序曲线。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40" name="Text 3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六大支柱支撑端到端仿真验证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18008" y="150876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008" y="1508760"/>
            <a:ext cx="64008" cy="21031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176" y="1709928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03808" y="1673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图像/视频 → 仿真激励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19176" y="214884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自动将真实图像转换为 Verilog $readmemh 可读的 hex 激励，支持 RGB888/RAW/YUV 多格式。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12768" y="150876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12768" y="1508760"/>
            <a:ext cx="64008" cy="21031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3936" y="1709928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98568" y="1673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一键仿真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13936" y="214884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iverilog 编译 + 运行 + 结果采集全自动，控制台或命令行均可触发。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107528" y="150876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07528" y="1508760"/>
            <a:ext cx="64008" cy="21031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696" y="1709928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793328" y="1673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结果还原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308696" y="214884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仿真输出 hex 自动还原为图像/视频，直观查看处理效果。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8008" y="384048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18008" y="3840480"/>
            <a:ext cx="64008" cy="21031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176" y="4041648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03808" y="40050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金标准比对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19176" y="448056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参考模型按位复现 RTL 定点运算，自动判定 PASS/FAIL。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12768" y="384048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312768" y="3840480"/>
            <a:ext cx="64008" cy="21031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3936" y="4041648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998568" y="40050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多维度质量分析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4513936" y="448056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锐度、白平衡、PSNR、直方图、Gamma 曲线，弹出独立面板。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8107528" y="3840480"/>
            <a:ext cx="3566160" cy="210312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107528" y="3840480"/>
            <a:ext cx="64008" cy="210312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696" y="4041648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793328" y="40050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 驱动生成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8308696" y="4480560"/>
            <a:ext cx="318211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从一份算法规格同时生成 RTL、金标准、Testbench、寄存器表。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端到端数据流水线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从一张图到一份质量报告，全自动串联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495148" y="2194560"/>
            <a:ext cx="2057400" cy="2377440"/>
          </a:xfrm>
          <a:prstGeom prst="rect">
            <a:avLst/>
          </a:prstGeom>
          <a:solidFill>
            <a:srgbClr val="1A2540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5148" y="2194560"/>
            <a:ext cx="2057400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104" y="2468880"/>
            <a:ext cx="475488" cy="47548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6104" y="2468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528" y="3108960"/>
            <a:ext cx="548640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86588" y="37490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输入媒体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04876" y="4069080"/>
            <a:ext cx="18379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导入图像 / MP4 视频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552548" y="29718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2781148" y="2194560"/>
            <a:ext cx="2057400" cy="2377440"/>
          </a:xfrm>
          <a:prstGeom prst="rect">
            <a:avLst/>
          </a:prstGeom>
          <a:solidFill>
            <a:srgbClr val="1A2540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81148" y="2194560"/>
            <a:ext cx="20574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Shape 15"/>
          <p:cNvSpPr/>
          <p:nvPr/>
        </p:nvSpPr>
        <p:spPr>
          <a:xfrm>
            <a:off x="3572104" y="2468880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72104" y="2468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28" y="3108960"/>
            <a:ext cx="548640" cy="54864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872588" y="37490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890876" y="4069080"/>
            <a:ext cx="18379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 / 坏点 / 模糊注入，AI 自定义算子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838548" y="29718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067148" y="2194560"/>
            <a:ext cx="2057400" cy="2377440"/>
          </a:xfrm>
          <a:prstGeom prst="rect">
            <a:avLst/>
          </a:prstGeom>
          <a:solidFill>
            <a:srgbClr val="1A2540"/>
          </a:solidFill>
          <a:ln w="15875">
            <a:solidFill>
              <a:srgbClr val="3B82F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067148" y="2194560"/>
            <a:ext cx="205740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6" name="Shape 22"/>
          <p:cNvSpPr/>
          <p:nvPr/>
        </p:nvSpPr>
        <p:spPr>
          <a:xfrm>
            <a:off x="5858104" y="2468880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858104" y="2468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1528" y="3108960"/>
            <a:ext cx="548640" cy="5486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158588" y="37490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iverilog 仿真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5176876" y="4069080"/>
            <a:ext cx="18379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BFM 驱动 DUT，寄存器配置注入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124548" y="29718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7353148" y="2194560"/>
            <a:ext cx="2057400" cy="2377440"/>
          </a:xfrm>
          <a:prstGeom prst="rect">
            <a:avLst/>
          </a:prstGeom>
          <a:solidFill>
            <a:srgbClr val="1A254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7353148" y="2194560"/>
            <a:ext cx="205740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4" name="Shape 29"/>
          <p:cNvSpPr/>
          <p:nvPr/>
        </p:nvSpPr>
        <p:spPr>
          <a:xfrm>
            <a:off x="8144104" y="2468880"/>
            <a:ext cx="475488" cy="47548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8144104" y="2468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7528" y="3108960"/>
            <a:ext cx="548640" cy="54864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444588" y="37490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输出还原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7462876" y="4069080"/>
            <a:ext cx="18379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result.hex → 图像 / 逐帧 MP4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9410548" y="29718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800" dirty="0"/>
          </a:p>
        </p:txBody>
      </p:sp>
      <p:sp>
        <p:nvSpPr>
          <p:cNvPr id="40" name="Shape 34"/>
          <p:cNvSpPr/>
          <p:nvPr/>
        </p:nvSpPr>
        <p:spPr>
          <a:xfrm>
            <a:off x="9639148" y="2194560"/>
            <a:ext cx="2057400" cy="2377440"/>
          </a:xfrm>
          <a:prstGeom prst="rect">
            <a:avLst/>
          </a:prstGeom>
          <a:solidFill>
            <a:srgbClr val="1A2540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9639148" y="2194560"/>
            <a:ext cx="205740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2" name="Shape 36"/>
          <p:cNvSpPr/>
          <p:nvPr/>
        </p:nvSpPr>
        <p:spPr>
          <a:xfrm>
            <a:off x="10430104" y="2468880"/>
            <a:ext cx="475488" cy="47548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10430104" y="2468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000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3528" y="3108960"/>
            <a:ext cx="548640" cy="54864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730588" y="37490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质量分析</a:t>
            </a:r>
            <a:endParaRPr lang="en-US" sz="1300" dirty="0"/>
          </a:p>
        </p:txBody>
      </p:sp>
      <p:sp>
        <p:nvSpPr>
          <p:cNvPr id="46" name="Text 39"/>
          <p:cNvSpPr/>
          <p:nvPr/>
        </p:nvSpPr>
        <p:spPr>
          <a:xfrm>
            <a:off x="9748876" y="4069080"/>
            <a:ext cx="18379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维指标 + 金标准 PASS/FAIL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1371600" y="5029200"/>
            <a:ext cx="9448495" cy="777240"/>
          </a:xfrm>
          <a:prstGeom prst="rect">
            <a:avLst/>
          </a:prstGeom>
          <a:solidFill>
            <a:srgbClr val="223052"/>
          </a:solidFill>
          <a:ln w="9525">
            <a:solidFill>
              <a:srgbClr val="2A3756"/>
            </a:solidFill>
            <a:prstDash val="solid"/>
          </a:ln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5166360"/>
            <a:ext cx="457200" cy="45720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2286000" y="5120640"/>
            <a:ext cx="8534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 all · make check · make regression  ——  冒烟 + 功能性检查 + 随机反压，一键全绿。默认 64×48 小分辨率快速回归。</a:t>
            </a:r>
            <a:endParaRPr lang="en-US" sz="1250" dirty="0"/>
          </a:p>
        </p:txBody>
      </p:sp>
      <p:sp>
        <p:nvSpPr>
          <p:cNvPr id="50" name="Shape 4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52" name="Text 44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使用方式 A：新建项目 + Vibe Coding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从课题需求到仿真验证，只需 4 步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00200"/>
            <a:ext cx="9997135" cy="10515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1892808"/>
            <a:ext cx="475488" cy="47548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1892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03120" y="1874520"/>
            <a:ext cx="512064" cy="512064"/>
          </a:xfrm>
          <a:prstGeom prst="ellipse">
            <a:avLst/>
          </a:prstGeom>
          <a:solidFill>
            <a:srgbClr val="3B82F6">
              <a:alpha val="25000"/>
            </a:srgbClr>
          </a:solidFill>
          <a:ln w="19050">
            <a:solidFill>
              <a:srgbClr val="3B82F6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1984248"/>
            <a:ext cx="292608" cy="29260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834640" y="17099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选课题 &amp; 让 AI 写 RTL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2834640" y="2057400"/>
            <a:ext cx="8076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阅读课题说明书，对 AI 说「实现课题二 Gamma 校正 IP」。AI 按 project_rules 自动放置 RTL、Testbench 并接入仿真环境。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97280" y="2834640"/>
            <a:ext cx="9997135" cy="10515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71600" y="3127248"/>
            <a:ext cx="475488" cy="47548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1600" y="312724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2103120" y="3108960"/>
            <a:ext cx="512064" cy="512064"/>
          </a:xfrm>
          <a:prstGeom prst="ellipse">
            <a:avLst/>
          </a:prstGeom>
          <a:solidFill>
            <a:srgbClr val="8B5CF6">
              <a:alpha val="25000"/>
            </a:srgbClr>
          </a:solidFill>
          <a:ln w="19050">
            <a:solidFill>
              <a:srgbClr val="8B5CF6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3218688"/>
            <a:ext cx="292608" cy="29260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834640" y="29443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打开仿真控制台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2834640" y="3291840"/>
            <a:ext cx="8076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命令面板运行 VIP Sim: 打开仿真控制台，IP 下拉框中自动出现新识别的 IP。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1097280" y="4069080"/>
            <a:ext cx="9997135" cy="10515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71600" y="4361688"/>
            <a:ext cx="475488" cy="47548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371600" y="436168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2103120" y="4343400"/>
            <a:ext cx="512064" cy="512064"/>
          </a:xfrm>
          <a:prstGeom prst="ellipse">
            <a:avLst/>
          </a:prstGeom>
          <a:solidFill>
            <a:srgbClr val="06B6D4">
              <a:alpha val="25000"/>
            </a:srgbClr>
          </a:solidFill>
          <a:ln w="19050">
            <a:solidFill>
              <a:srgbClr val="06B6D4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4453128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2834640" y="417880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导入媒体 &amp; 配寄存器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2834640" y="4526280"/>
            <a:ext cx="8076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导入图像/视频，按 regdef.json 渲染的可编辑表单填写寄存器值，点击 ▶ 运行仿真。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097280" y="5303520"/>
            <a:ext cx="9997135" cy="10515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371600" y="5596128"/>
            <a:ext cx="475488" cy="47548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1371600" y="55961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2103120" y="5577840"/>
            <a:ext cx="512064" cy="512064"/>
          </a:xfrm>
          <a:prstGeom prst="ellipse">
            <a:avLst/>
          </a:prstGeom>
          <a:solidFill>
            <a:srgbClr val="10B981">
              <a:alpha val="25000"/>
            </a:srgbClr>
          </a:solidFill>
          <a:ln w="19050">
            <a:solidFill>
              <a:srgbClr val="10B981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2848" y="5687568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2834640" y="54132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看结果 &amp; 判定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2834640" y="5760720"/>
            <a:ext cx="807689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图像对比 / 差异热力图 / 6 维分析 / 金标准 PASS·FAIL，一目了然。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使用方式 B：导入已有工程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v0.9.8 新增 — 已有 RTL 工程，零修改一键接入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5303520" cy="4572000"/>
          </a:xfrm>
          <a:prstGeom prst="rect">
            <a:avLst/>
          </a:prstGeom>
          <a:solidFill>
            <a:srgbClr val="1A2540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扫描外部工程，自动接入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68680" y="2423160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23957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在工程旁创建独立仿真工作区（不污染原工程）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8680" y="2990088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2"/>
          <p:cNvSpPr/>
          <p:nvPr/>
        </p:nvSpPr>
        <p:spPr>
          <a:xfrm>
            <a:off x="86868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188720" y="294436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扫描全部 .v/.sv，识别「IP 顶层」（同时含 s_axis_* 与 m_axis_*）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8680" y="3557016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352958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88720" y="351129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沿实例化关系求依赖闭包，全局去重后复制 RTL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68680" y="4123944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0965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DUT 真实端口名自动生成 Testbench（容忍信号名变体）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68680" y="4690872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4" name="Text 21"/>
          <p:cNvSpPr/>
          <p:nvPr/>
        </p:nvSpPr>
        <p:spPr>
          <a:xfrm>
            <a:off x="868680" y="466344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88720" y="464515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检测寄存器配置总线 cfg_* → 接 reg_config BFM 并生成 regdef.json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68680" y="5257800"/>
            <a:ext cx="201168" cy="20116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Text 24"/>
          <p:cNvSpPr/>
          <p:nvPr/>
        </p:nvSpPr>
        <p:spPr>
          <a:xfrm>
            <a:off x="868680" y="523036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22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88720" y="52120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打开工作区，控制台逐个选择 IP 运行仿真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126480" y="1463040"/>
            <a:ext cx="5394960" cy="2103120"/>
          </a:xfrm>
          <a:prstGeom prst="rect">
            <a:avLst/>
          </a:prstGeom>
          <a:solidFill>
            <a:srgbClr val="1A2540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26480" y="1463040"/>
            <a:ext cx="539496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6355080" y="16459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实测验证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126480" y="2011680"/>
            <a:ext cx="5394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3800" dirty="0"/>
          </a:p>
        </p:txBody>
      </p:sp>
      <p:sp>
        <p:nvSpPr>
          <p:cNvPr id="33" name="Text 30"/>
          <p:cNvSpPr/>
          <p:nvPr/>
        </p:nvSpPr>
        <p:spPr>
          <a:xfrm>
            <a:off x="6126480" y="257860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个真实工程 IP 全端到端 PASS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355080" y="2880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某真实工程扫描 13 个 AXI-Stream 视频 IP，全部自动生成 TB 并通过验证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126480" y="3749040"/>
            <a:ext cx="5394960" cy="86868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6480" y="3749040"/>
            <a:ext cx="64008" cy="86868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3950208"/>
            <a:ext cx="384048" cy="38404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6812280" y="3913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不改动原工程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6327648" y="4389120"/>
            <a:ext cx="5010912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所有仿真文件复制到工程旁的独立工作区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126480" y="4709160"/>
            <a:ext cx="5394960" cy="86868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126480" y="4709160"/>
            <a:ext cx="64008" cy="86868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4910328"/>
            <a:ext cx="384048" cy="384048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6812280" y="48737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自适应端口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6327648" y="5349240"/>
            <a:ext cx="5010912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RAW8/RGB24/RGB888，缺 tuser/tlast 自动重建帧边界</a:t>
            </a:r>
            <a:endParaRPr lang="en-US" sz="1100" dirty="0"/>
          </a:p>
        </p:txBody>
      </p:sp>
      <p:sp>
        <p:nvSpPr>
          <p:cNvPr id="45" name="Shape 40"/>
          <p:cNvSpPr/>
          <p:nvPr/>
        </p:nvSpPr>
        <p:spPr>
          <a:xfrm>
            <a:off x="6126480" y="5669280"/>
            <a:ext cx="5394960" cy="86868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6126480" y="5669280"/>
            <a:ext cx="64008" cy="86868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5870448"/>
            <a:ext cx="384048" cy="384048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6812280" y="58338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解析真实寄存器</a:t>
            </a:r>
            <a:endParaRPr lang="en-US" sz="1400" dirty="0"/>
          </a:p>
        </p:txBody>
      </p:sp>
      <p:sp>
        <p:nvSpPr>
          <p:cNvPr id="49" name="Text 43"/>
          <p:cNvSpPr/>
          <p:nvPr/>
        </p:nvSpPr>
        <p:spPr>
          <a:xfrm>
            <a:off x="6327648" y="6309360"/>
            <a:ext cx="5010912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RTL 解析地址/RW-RO/默认值/说明，生成 regdef 骨架</a:t>
            </a:r>
            <a:endParaRPr lang="en-US" sz="1100" dirty="0"/>
          </a:p>
        </p:txBody>
      </p:sp>
      <p:sp>
        <p:nvSpPr>
          <p:cNvPr id="50" name="Shape 44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52" name="Text 46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 驱动代码生成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v1.0.0 新增 — 一份规格，同时生成 RTL + 金标准 + TB + 寄存器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4724248" y="1554480"/>
            <a:ext cx="2743200" cy="777240"/>
          </a:xfrm>
          <a:prstGeom prst="roundRect">
            <a:avLst>
              <a:gd name="adj" fmla="val 1411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07128" y="169164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10048" y="16276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.ip_spec.yaml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10048" y="1965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算法描述（类型 / 核 / 定点 / 寄存器）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095848" y="233172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-259232" y="2926080"/>
            <a:ext cx="2468880" cy="1645920"/>
          </a:xfrm>
          <a:prstGeom prst="rect">
            <a:avLst/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352" y="310896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0848" y="31089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(.v)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-94640" y="358444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 RTL，AXI-Stream 接口 + 数据通路，可直接用或修改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95848" y="233172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2392528" y="2926080"/>
            <a:ext cx="2468880" cy="1645920"/>
          </a:xfrm>
          <a:prstGeom prst="rect">
            <a:avLst/>
          </a:prstGeom>
          <a:solidFill>
            <a:srgbClr val="1A2540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408" y="310896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032608" y="31089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golden.py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2557120" y="358444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金标准函数（按位比对模型），同源生成天然一致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095848" y="233172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23" name="Shape 18"/>
          <p:cNvSpPr/>
          <p:nvPr/>
        </p:nvSpPr>
        <p:spPr>
          <a:xfrm>
            <a:off x="5044288" y="2926080"/>
            <a:ext cx="2468880" cy="1645920"/>
          </a:xfrm>
          <a:prstGeom prst="rect">
            <a:avLst/>
          </a:prstGeom>
          <a:solidFill>
            <a:srgbClr val="1A2540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7168" y="310896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684368" y="31089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regdef.json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5208880" y="358444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控制台寄存器表单数据源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6095848" y="233172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7696048" y="2926080"/>
            <a:ext cx="2468880" cy="1645920"/>
          </a:xfrm>
          <a:prstGeom prst="rect">
            <a:avLst/>
          </a:prstGeom>
          <a:solidFill>
            <a:srgbClr val="1A2540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8928" y="3108960"/>
            <a:ext cx="365760" cy="36576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336128" y="310896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tb_&lt;ip&gt;.v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7860640" y="358444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Testbench 骨架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1371600" y="4937760"/>
            <a:ext cx="9448495" cy="1005840"/>
          </a:xfrm>
          <a:prstGeom prst="rect">
            <a:avLst/>
          </a:prstGeom>
          <a:solidFill>
            <a:srgbClr val="223052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5920" y="512064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2377440" y="5029200"/>
            <a:ext cx="83512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级联组合生成：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IP 直连（如 AWB→Gamma→锐化），一条命令自动产出级联 RTL + 合并寄存器表 + 金标准组合模型。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维图像质量分析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量化输出质量 + 金标准按位比对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18008" y="155448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2600" y="1719072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682600" y="17007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39800" y="170078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锐度</a:t>
            </a:r>
            <a:endParaRPr lang="en-US" sz="15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53816" y="1719072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00888" y="2194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Laplacian 方差 + Tenengrad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等级评定：模糊 / 良好 / 优秀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12768" y="155448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7360" y="1719072"/>
            <a:ext cx="347472" cy="347472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7360" y="17007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34560" y="170078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白平衡</a:t>
            </a:r>
            <a:endParaRPr lang="en-US" sz="15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576" y="1719072"/>
            <a:ext cx="329184" cy="32918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495648" y="2194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R/G/B 增益与色温倾向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灰度世界假设 + 白点检测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107528" y="155448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72120" y="1719072"/>
            <a:ext cx="347472" cy="347472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18"/>
          <p:cNvSpPr/>
          <p:nvPr/>
        </p:nvSpPr>
        <p:spPr>
          <a:xfrm>
            <a:off x="8272120" y="17007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729320" y="170078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直方图</a:t>
            </a:r>
            <a:endParaRPr lang="en-US" sz="15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336" y="1719072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290408" y="21945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256-bin 分布与亮度漂移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R/G/B 分通道叠加对比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18008" y="324612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82600" y="3410712"/>
            <a:ext cx="347472" cy="34747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3"/>
          <p:cNvSpPr/>
          <p:nvPr/>
        </p:nvSpPr>
        <p:spPr>
          <a:xfrm>
            <a:off x="682600" y="33924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139800" y="33924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PSNR</a:t>
            </a:r>
            <a:endParaRPr lang="en-US" sz="15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3816" y="3410712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00888" y="3886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 + R/G/B 分通道信噪比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40 dB 优秀，肉眼不可见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312768" y="324612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4477360" y="3410712"/>
            <a:ext cx="347472" cy="34747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4" name="Text 28"/>
          <p:cNvSpPr/>
          <p:nvPr/>
        </p:nvSpPr>
        <p:spPr>
          <a:xfrm>
            <a:off x="4477360" y="33924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4934560" y="33924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 曲线</a:t>
            </a:r>
            <a:endParaRPr lang="en-US" sz="15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8576" y="341071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4495648" y="3886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 vs 目标 Gamma 偏差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级灰阶最小二乘拟合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8107528" y="3246120"/>
            <a:ext cx="3566160" cy="150876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272120" y="3410712"/>
            <a:ext cx="347472" cy="347472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40" name="Text 33"/>
          <p:cNvSpPr/>
          <p:nvPr/>
        </p:nvSpPr>
        <p:spPr>
          <a:xfrm>
            <a:off x="8272120" y="339242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400" dirty="0"/>
          </a:p>
        </p:txBody>
      </p:sp>
      <p:sp>
        <p:nvSpPr>
          <p:cNvPr id="41" name="Text 34"/>
          <p:cNvSpPr/>
          <p:nvPr/>
        </p:nvSpPr>
        <p:spPr>
          <a:xfrm>
            <a:off x="8729320" y="339242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差异热力图</a:t>
            </a:r>
            <a:endParaRPr lang="en-US" sz="15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336" y="3410712"/>
            <a:ext cx="329184" cy="329184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290408" y="3886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JET 伪彩渲染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一眼定位逐像素差异区域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548640" y="4937760"/>
            <a:ext cx="11094415" cy="1005840"/>
          </a:xfrm>
          <a:prstGeom prst="rect">
            <a:avLst/>
          </a:prstGeom>
          <a:solidFill>
            <a:srgbClr val="223052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20640"/>
            <a:ext cx="548640" cy="548640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554480" y="5029200"/>
            <a:ext cx="100885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金标准比对  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 IP 按位参考模型（NumPy），逐字比对 + 容差/容许失配比例。6 个 IP 逐位精确，AWB 帧内增益瞬态容许 2% 失配。</a:t>
            </a:r>
            <a:endParaRPr lang="en-US" sz="1300" dirty="0"/>
          </a:p>
        </p:txBody>
      </p:sp>
      <p:sp>
        <p:nvSpPr>
          <p:cNvPr id="47" name="Shape 38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49" name="Text 40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进阶能力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视频流式仿真 &amp; AI 驱动的预处理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463040"/>
            <a:ext cx="5394960" cy="4480560"/>
          </a:xfrm>
          <a:prstGeom prst="rect">
            <a:avLst/>
          </a:prstGeom>
          <a:solidFill>
            <a:srgbClr val="1A254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视频流式仿真</a:t>
            </a:r>
            <a:endParaRPr lang="en-US" sz="18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48716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34440" y="24688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MP4 → 流式逐帧仿真 → 导出 MP4</a:t>
            </a:r>
            <a:endParaRPr lang="en-US" sz="12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8152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30632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axis_video_source 加 C_STREAM 参数，向后兼容单帧 replay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67588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657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帧滑块逐帧预览输入/输出，对选中帧做 6 维分析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70248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34440" y="4251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时序分析面板：锐度 / 亮度 / PSNR 随帧曲线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864608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48463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DDR 帧缓冲（双槽 ping-pong）支持帧间 IP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6217920" y="1463040"/>
            <a:ext cx="5394960" cy="4480560"/>
          </a:xfrm>
          <a:prstGeom prst="rect">
            <a:avLst/>
          </a:prstGeom>
          <a:solidFill>
            <a:srgbClr val="1A254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1691640"/>
            <a:ext cx="502920" cy="50292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1323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预处理</a:t>
            </a:r>
            <a:endParaRPr lang="en-US" sz="1800" dirty="0"/>
          </a:p>
        </p:txBody>
      </p:sp>
      <p:sp>
        <p:nvSpPr>
          <p:cNvPr id="26" name="Text 17"/>
          <p:cNvSpPr/>
          <p:nvPr/>
        </p:nvSpPr>
        <p:spPr>
          <a:xfrm>
            <a:off x="713232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脚手架 + Trae 聊天 · 无需在扩展里配 API key</a:t>
            </a:r>
            <a:endParaRPr lang="en-US" sz="1000" dirty="0"/>
          </a:p>
        </p:txBody>
      </p:sp>
      <p:sp>
        <p:nvSpPr>
          <p:cNvPr id="27" name="Text 18"/>
          <p:cNvSpPr/>
          <p:nvPr/>
        </p:nvSpPr>
        <p:spPr>
          <a:xfrm>
            <a:off x="6400800" y="25146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800" dirty="0"/>
          </a:p>
        </p:txBody>
      </p:sp>
      <p:sp>
        <p:nvSpPr>
          <p:cNvPr id="28" name="Text 19"/>
          <p:cNvSpPr/>
          <p:nvPr/>
        </p:nvSpPr>
        <p:spPr>
          <a:xfrm>
            <a:off x="6812280" y="2514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文本框描述需求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6812280" y="2807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例：模拟低光照并加噪声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6400800" y="329184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800" dirty="0"/>
          </a:p>
        </p:txBody>
      </p:sp>
      <p:sp>
        <p:nvSpPr>
          <p:cNvPr id="31" name="Text 22"/>
          <p:cNvSpPr/>
          <p:nvPr/>
        </p:nvSpPr>
        <p:spPr>
          <a:xfrm>
            <a:off x="6812280" y="3291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写入脚手架 + 复制提示词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6812280" y="3584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preprocess_custom.py 自动打开</a:t>
            </a:r>
            <a:endParaRPr lang="en-US" sz="1050" dirty="0"/>
          </a:p>
        </p:txBody>
      </p:sp>
      <p:sp>
        <p:nvSpPr>
          <p:cNvPr id="33" name="Text 24"/>
          <p:cNvSpPr/>
          <p:nvPr/>
        </p:nvSpPr>
        <p:spPr>
          <a:xfrm>
            <a:off x="6400800" y="40690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800" dirty="0"/>
          </a:p>
        </p:txBody>
      </p:sp>
      <p:sp>
        <p:nvSpPr>
          <p:cNvPr id="34" name="Text 25"/>
          <p:cNvSpPr/>
          <p:nvPr/>
        </p:nvSpPr>
        <p:spPr>
          <a:xfrm>
            <a:off x="6812280" y="4069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粘到 Trae 聊天让 AI 填函数</a:t>
            </a:r>
            <a:endParaRPr lang="en-US" sz="1300" dirty="0"/>
          </a:p>
        </p:txBody>
      </p:sp>
      <p:sp>
        <p:nvSpPr>
          <p:cNvPr id="35" name="Text 26"/>
          <p:cNvSpPr/>
          <p:nvPr/>
        </p:nvSpPr>
        <p:spPr>
          <a:xfrm>
            <a:off x="6812280" y="43616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借用你正在用的模型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6400800" y="484632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800" dirty="0"/>
          </a:p>
        </p:txBody>
      </p:sp>
      <p:sp>
        <p:nvSpPr>
          <p:cNvPr id="37" name="Text 28"/>
          <p:cNvSpPr/>
          <p:nvPr/>
        </p:nvSpPr>
        <p:spPr>
          <a:xfrm>
            <a:off x="6812280" y="4846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点「运行(AI已填好)」</a:t>
            </a:r>
            <a:endParaRPr lang="en-US" sz="1300" dirty="0"/>
          </a:p>
        </p:txBody>
      </p:sp>
      <p:sp>
        <p:nvSpPr>
          <p:cNvPr id="38" name="Text 29"/>
          <p:cNvSpPr/>
          <p:nvPr/>
        </p:nvSpPr>
        <p:spPr>
          <a:xfrm>
            <a:off x="6812280" y="51389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结果设为新的仿真输入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覆盖范围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个 ISP IP 课题 — 全部验证通过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883768" y="15544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768" y="1554480"/>
            <a:ext cx="24688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Shape 8"/>
          <p:cNvSpPr/>
          <p:nvPr/>
        </p:nvSpPr>
        <p:spPr>
          <a:xfrm>
            <a:off x="2877160" y="16642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5448" y="1682496"/>
            <a:ext cx="274320" cy="27432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8" y="18288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15288" y="1828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色彩空间转换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615288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535528" y="15544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35528" y="1554480"/>
            <a:ext cx="24688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Shape 13"/>
          <p:cNvSpPr/>
          <p:nvPr/>
        </p:nvSpPr>
        <p:spPr>
          <a:xfrm>
            <a:off x="5528920" y="16642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208" y="1682496"/>
            <a:ext cx="274320" cy="274320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8408" y="182880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267048" y="1828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 校正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4267048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87288" y="15544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187288" y="1554480"/>
            <a:ext cx="2468880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Shape 18"/>
          <p:cNvSpPr/>
          <p:nvPr/>
        </p:nvSpPr>
        <p:spPr>
          <a:xfrm>
            <a:off x="8180680" y="16642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8968" y="1682496"/>
            <a:ext cx="274320" cy="27432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168" y="182880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18808" y="1828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自动白平衡 AWB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6918808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839048" y="15544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8839048" y="1554480"/>
            <a:ext cx="2468880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31" name="Shape 23"/>
          <p:cNvSpPr/>
          <p:nvPr/>
        </p:nvSpPr>
        <p:spPr>
          <a:xfrm>
            <a:off x="10832440" y="16642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0728" y="1682496"/>
            <a:ext cx="274320" cy="27432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1928" y="1828800"/>
            <a:ext cx="457200" cy="45720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9570568" y="1828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坏点校正</a:t>
            </a:r>
            <a:endParaRPr lang="en-US" sz="1400" dirty="0"/>
          </a:p>
        </p:txBody>
      </p:sp>
      <p:sp>
        <p:nvSpPr>
          <p:cNvPr id="35" name="Text 25"/>
          <p:cNvSpPr/>
          <p:nvPr/>
        </p:nvSpPr>
        <p:spPr>
          <a:xfrm>
            <a:off x="9570568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883768" y="29260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883768" y="2926080"/>
            <a:ext cx="24688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8" name="Shape 28"/>
          <p:cNvSpPr/>
          <p:nvPr/>
        </p:nvSpPr>
        <p:spPr>
          <a:xfrm>
            <a:off x="2877160" y="30358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5448" y="3054096"/>
            <a:ext cx="274320" cy="274320"/>
          </a:xfrm>
          <a:prstGeom prst="rect">
            <a:avLst/>
          </a:prstGeom>
        </p:spPr>
      </p:pic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6648" y="3200400"/>
            <a:ext cx="457200" cy="45720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615288" y="32004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空域降噪</a:t>
            </a:r>
            <a:endParaRPr lang="en-US" sz="1400" dirty="0"/>
          </a:p>
        </p:txBody>
      </p:sp>
      <p:sp>
        <p:nvSpPr>
          <p:cNvPr id="42" name="Text 30"/>
          <p:cNvSpPr/>
          <p:nvPr/>
        </p:nvSpPr>
        <p:spPr>
          <a:xfrm>
            <a:off x="1615288" y="3611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43" name="Shape 31"/>
          <p:cNvSpPr/>
          <p:nvPr/>
        </p:nvSpPr>
        <p:spPr>
          <a:xfrm>
            <a:off x="3535528" y="29260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Shape 32"/>
          <p:cNvSpPr/>
          <p:nvPr/>
        </p:nvSpPr>
        <p:spPr>
          <a:xfrm>
            <a:off x="3535528" y="2926080"/>
            <a:ext cx="24688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5" name="Shape 33"/>
          <p:cNvSpPr/>
          <p:nvPr/>
        </p:nvSpPr>
        <p:spPr>
          <a:xfrm>
            <a:off x="5528920" y="30358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47208" y="3054096"/>
            <a:ext cx="274320" cy="274320"/>
          </a:xfrm>
          <a:prstGeom prst="rect">
            <a:avLst/>
          </a:prstGeom>
        </p:spPr>
      </p:pic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18408" y="3200400"/>
            <a:ext cx="457200" cy="457200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4267048" y="32004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锐化</a:t>
            </a:r>
            <a:endParaRPr lang="en-US" sz="1400" dirty="0"/>
          </a:p>
        </p:txBody>
      </p:sp>
      <p:sp>
        <p:nvSpPr>
          <p:cNvPr id="49" name="Text 35"/>
          <p:cNvSpPr/>
          <p:nvPr/>
        </p:nvSpPr>
        <p:spPr>
          <a:xfrm>
            <a:off x="4267048" y="3611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50" name="Shape 36"/>
          <p:cNvSpPr/>
          <p:nvPr/>
        </p:nvSpPr>
        <p:spPr>
          <a:xfrm>
            <a:off x="6187288" y="2926080"/>
            <a:ext cx="2468880" cy="1188720"/>
          </a:xfrm>
          <a:prstGeom prst="rect">
            <a:avLst/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1" name="Shape 37"/>
          <p:cNvSpPr/>
          <p:nvPr/>
        </p:nvSpPr>
        <p:spPr>
          <a:xfrm>
            <a:off x="6187288" y="2926080"/>
            <a:ext cx="24688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2" name="Shape 38"/>
          <p:cNvSpPr/>
          <p:nvPr/>
        </p:nvSpPr>
        <p:spPr>
          <a:xfrm>
            <a:off x="8180680" y="3035808"/>
            <a:ext cx="320040" cy="32004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5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98968" y="3054096"/>
            <a:ext cx="274320" cy="274320"/>
          </a:xfrm>
          <a:prstGeom prst="rect">
            <a:avLst/>
          </a:prstGeom>
        </p:spPr>
      </p:pic>
      <p:pic>
        <p:nvPicPr>
          <p:cNvPr id="5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70168" y="3200400"/>
            <a:ext cx="457200" cy="457200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6918808" y="32004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对比度增强</a:t>
            </a:r>
            <a:endParaRPr lang="en-US" sz="1400" dirty="0"/>
          </a:p>
        </p:txBody>
      </p:sp>
      <p:sp>
        <p:nvSpPr>
          <p:cNvPr id="56" name="Text 40"/>
          <p:cNvSpPr/>
          <p:nvPr/>
        </p:nvSpPr>
        <p:spPr>
          <a:xfrm>
            <a:off x="6918808" y="36118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已验证</a:t>
            </a:r>
            <a:endParaRPr lang="en-US" sz="1100" dirty="0"/>
          </a:p>
        </p:txBody>
      </p:sp>
      <p:sp>
        <p:nvSpPr>
          <p:cNvPr id="57" name="Shape 41"/>
          <p:cNvSpPr/>
          <p:nvPr/>
        </p:nvSpPr>
        <p:spPr>
          <a:xfrm>
            <a:off x="8839048" y="1554480"/>
            <a:ext cx="2468880" cy="1188720"/>
          </a:xfrm>
          <a:prstGeom prst="rect">
            <a:avLst/>
          </a:prstGeom>
          <a:solidFill>
            <a:srgbClr val="223052"/>
          </a:solidFill>
          <a:ln w="12700">
            <a:solidFill>
              <a:srgbClr val="8B5CF6"/>
            </a:solidFill>
            <a:prstDash val="dash"/>
          </a:ln>
        </p:spPr>
      </p:sp>
      <p:sp>
        <p:nvSpPr>
          <p:cNvPr id="58" name="Shape 42"/>
          <p:cNvSpPr/>
          <p:nvPr/>
        </p:nvSpPr>
        <p:spPr>
          <a:xfrm>
            <a:off x="8839048" y="1554480"/>
            <a:ext cx="246888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5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1928" y="1828800"/>
            <a:ext cx="457200" cy="457200"/>
          </a:xfrm>
          <a:prstGeom prst="rect">
            <a:avLst/>
          </a:prstGeom>
        </p:spPr>
      </p:pic>
      <p:sp>
        <p:nvSpPr>
          <p:cNvPr id="60" name="Text 43"/>
          <p:cNvSpPr/>
          <p:nvPr/>
        </p:nvSpPr>
        <p:spPr>
          <a:xfrm>
            <a:off x="9570568" y="1828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 组合设计</a:t>
            </a:r>
            <a:endParaRPr lang="en-US" sz="1400" dirty="0"/>
          </a:p>
        </p:txBody>
      </p:sp>
      <p:sp>
        <p:nvSpPr>
          <p:cNvPr id="61" name="Text 44"/>
          <p:cNvSpPr/>
          <p:nvPr/>
        </p:nvSpPr>
        <p:spPr>
          <a:xfrm>
            <a:off x="9021928" y="230428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passthrough · awb_sharpen</a:t>
            </a:r>
            <a:endParaRPr lang="en-US" sz="1000" dirty="0"/>
          </a:p>
        </p:txBody>
      </p:sp>
      <p:sp>
        <p:nvSpPr>
          <p:cNvPr id="62" name="Text 45"/>
          <p:cNvSpPr/>
          <p:nvPr/>
        </p:nvSpPr>
        <p:spPr>
          <a:xfrm>
            <a:off x="883768" y="43891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800" dirty="0"/>
          </a:p>
        </p:txBody>
      </p:sp>
      <p:sp>
        <p:nvSpPr>
          <p:cNvPr id="63" name="Text 46"/>
          <p:cNvSpPr/>
          <p:nvPr/>
        </p:nvSpPr>
        <p:spPr>
          <a:xfrm>
            <a:off x="883768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端到端验证场景</a:t>
            </a:r>
            <a:endParaRPr lang="en-US" sz="1100" dirty="0"/>
          </a:p>
        </p:txBody>
      </p:sp>
      <p:sp>
        <p:nvSpPr>
          <p:cNvPr id="64" name="Text 47"/>
          <p:cNvSpPr/>
          <p:nvPr/>
        </p:nvSpPr>
        <p:spPr>
          <a:xfrm>
            <a:off x="3535528" y="43891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800" dirty="0"/>
          </a:p>
        </p:txBody>
      </p:sp>
      <p:sp>
        <p:nvSpPr>
          <p:cNvPr id="65" name="Text 48"/>
          <p:cNvSpPr/>
          <p:nvPr/>
        </p:nvSpPr>
        <p:spPr>
          <a:xfrm>
            <a:off x="3535528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 逐位精确</a:t>
            </a:r>
            <a:endParaRPr lang="en-US" sz="1100" dirty="0"/>
          </a:p>
        </p:txBody>
      </p:sp>
      <p:sp>
        <p:nvSpPr>
          <p:cNvPr id="66" name="Text 49"/>
          <p:cNvSpPr/>
          <p:nvPr/>
        </p:nvSpPr>
        <p:spPr>
          <a:xfrm>
            <a:off x="6187288" y="43891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≤2%</a:t>
            </a:r>
            <a:endParaRPr lang="en-US" sz="3800" dirty="0"/>
          </a:p>
        </p:txBody>
      </p:sp>
      <p:sp>
        <p:nvSpPr>
          <p:cNvPr id="67" name="Text 50"/>
          <p:cNvSpPr/>
          <p:nvPr/>
        </p:nvSpPr>
        <p:spPr>
          <a:xfrm>
            <a:off x="6187288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AWB 容许失配</a:t>
            </a:r>
            <a:endParaRPr lang="en-US" sz="1100" dirty="0"/>
          </a:p>
        </p:txBody>
      </p:sp>
      <p:sp>
        <p:nvSpPr>
          <p:cNvPr id="68" name="Text 51"/>
          <p:cNvSpPr/>
          <p:nvPr/>
        </p:nvSpPr>
        <p:spPr>
          <a:xfrm>
            <a:off x="8839048" y="43891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64×48</a:t>
            </a:r>
            <a:endParaRPr lang="en-US" sz="3800" dirty="0"/>
          </a:p>
        </p:txBody>
      </p:sp>
      <p:sp>
        <p:nvSpPr>
          <p:cNvPr id="69" name="Text 52"/>
          <p:cNvSpPr/>
          <p:nvPr/>
        </p:nvSpPr>
        <p:spPr>
          <a:xfrm>
            <a:off x="8839048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默认回归分辨率</a:t>
            </a:r>
            <a:endParaRPr lang="en-US" sz="1100" dirty="0"/>
          </a:p>
        </p:txBody>
      </p:sp>
      <p:sp>
        <p:nvSpPr>
          <p:cNvPr id="70" name="Text 53"/>
          <p:cNvSpPr/>
          <p:nvPr/>
        </p:nvSpPr>
        <p:spPr>
          <a:xfrm>
            <a:off x="1371600" y="544068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回归脚本 run_regression.sh（make regression）：冒烟 + 功能性 + 随机反压全绿</a:t>
            </a:r>
            <a:endParaRPr lang="en-US" sz="1200" dirty="0"/>
          </a:p>
        </p:txBody>
      </p:sp>
      <p:sp>
        <p:nvSpPr>
          <p:cNvPr id="71" name="Shape 54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72" name="Text 5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73" name="Text 56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跨平台支持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· macOS · Linux 三大平台完整覆盖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746608" y="1554480"/>
            <a:ext cx="3383280" cy="2743200"/>
          </a:xfrm>
          <a:prstGeom prst="rect">
            <a:avLst/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6608" y="1554480"/>
            <a:ext cx="3383280" cy="64008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488" y="1783080"/>
            <a:ext cx="73152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6608" y="26060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75208" y="30632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Python 构建编排 scripts/sim.py，无需 GNU Make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20928" y="3794760"/>
            <a:ext cx="2834640" cy="365760"/>
          </a:xfrm>
          <a:prstGeom prst="rect">
            <a:avLst/>
          </a:prstGeom>
          <a:solidFill>
            <a:srgbClr val="0B1221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0928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scoop install icarus-verilog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404208" y="1554480"/>
            <a:ext cx="3383280" cy="2743200"/>
          </a:xfrm>
          <a:prstGeom prst="rect">
            <a:avLst/>
          </a:prstGeom>
          <a:solidFill>
            <a:srgbClr val="1A254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04208" y="1554480"/>
            <a:ext cx="3383280" cy="64008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088" y="1783080"/>
            <a:ext cx="731520" cy="7315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404208" y="26060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632808" y="30632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Makefile 封装 + Python 编排双模式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678528" y="3794760"/>
            <a:ext cx="2834640" cy="365760"/>
          </a:xfrm>
          <a:prstGeom prst="rect">
            <a:avLst/>
          </a:prstGeom>
          <a:solidFill>
            <a:srgbClr val="0B1221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678528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icarus-verilog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061808" y="1554480"/>
            <a:ext cx="3383280" cy="2743200"/>
          </a:xfrm>
          <a:prstGeom prst="rect">
            <a:avLst/>
          </a:prstGeom>
          <a:solidFill>
            <a:srgbClr val="1A25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61808" y="1554480"/>
            <a:ext cx="3383280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7688" y="1783080"/>
            <a:ext cx="731520" cy="7315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061808" y="26060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Linux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8290408" y="306324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Makefile 封装 + Python 编排双模式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336128" y="3794760"/>
            <a:ext cx="2834640" cy="365760"/>
          </a:xfrm>
          <a:prstGeom prst="rect">
            <a:avLst/>
          </a:prstGeom>
          <a:solidFill>
            <a:srgbClr val="0B1221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336128" y="37947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sudo apt install iverilog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731520" y="4709160"/>
            <a:ext cx="10728655" cy="1234440"/>
          </a:xfrm>
          <a:prstGeom prst="rect">
            <a:avLst/>
          </a:prstGeom>
          <a:solidFill>
            <a:srgbClr val="223052"/>
          </a:solidFill>
          <a:ln w="9525">
            <a:solidFill>
              <a:srgbClr val="2A3756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8920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645920" y="48463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v1.0.1 Windows 兼容性增强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1645920" y="5166360"/>
            <a:ext cx="96313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子进程自动设置 PYTHONIOENCODING=utf-8，解决中文输出乱码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控制台图标用 ASCII 替代 Unicode，避免 GBK 编码错误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移除命令行多余引号，路径含空格/中文不再出错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平台演进历程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从脚手架到智能代码生成，持续迭代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2034540"/>
            <a:ext cx="182880" cy="18288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217420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71600" y="1828800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1828800"/>
            <a:ext cx="54864" cy="5943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82880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60320" y="18288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脚手架形态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94960" y="1828800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扩展内置模板，新建项目复制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2702052"/>
            <a:ext cx="182880" cy="18288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05840" y="2884932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71600" y="2496312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0" y="2496312"/>
            <a:ext cx="54864" cy="594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9" name="Text 17"/>
          <p:cNvSpPr/>
          <p:nvPr/>
        </p:nvSpPr>
        <p:spPr>
          <a:xfrm>
            <a:off x="1554480" y="2496312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560320" y="249631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图卡 + 分析面板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94960" y="2496312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维分析独立弹窗，9 种内置图卡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3369564"/>
            <a:ext cx="182880" cy="1828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" y="3552444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71600" y="3163824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71600" y="3163824"/>
            <a:ext cx="54864" cy="5943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1554480" y="3163824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560320" y="3163824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金标准比对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94960" y="3163824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IP 参考模型 + 6 IP 逐位精确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4037076"/>
            <a:ext cx="182880" cy="1828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0" name="Shape 28"/>
          <p:cNvSpPr/>
          <p:nvPr/>
        </p:nvSpPr>
        <p:spPr>
          <a:xfrm>
            <a:off x="1005840" y="4219956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71600" y="3831336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71600" y="3831336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1554480" y="3831336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560320" y="3831336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视频仿真全链路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394960" y="3831336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导入/流式多帧/逐帧预览/MP4 导出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14400" y="4704588"/>
            <a:ext cx="182880" cy="1828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05840" y="4887468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71600" y="4498848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71600" y="4498848"/>
            <a:ext cx="54864" cy="594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0" name="Text 38"/>
          <p:cNvSpPr/>
          <p:nvPr/>
        </p:nvSpPr>
        <p:spPr>
          <a:xfrm>
            <a:off x="1554480" y="4498848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560320" y="4498848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控制台 GUI 美化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394960" y="4498848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卡片布局 + 统一入口自适应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14400" y="5372100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05840" y="5554980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71600" y="5166360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71600" y="5166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7" name="Text 45"/>
          <p:cNvSpPr/>
          <p:nvPr/>
        </p:nvSpPr>
        <p:spPr>
          <a:xfrm>
            <a:off x="1554480" y="516636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v0.9.8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2560320" y="51663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导入已有工程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394960" y="5166360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扫描外部 RTL，13 IP 全 PASS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914400" y="6039612"/>
            <a:ext cx="182880" cy="182880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5840" y="6222492"/>
            <a:ext cx="0" cy="484632"/>
          </a:xfrm>
          <a:prstGeom prst="line">
            <a:avLst/>
          </a:prstGeom>
          <a:noFill/>
          <a:ln w="12700">
            <a:solidFill>
              <a:srgbClr val="2A375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371600" y="5833872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71600" y="5833872"/>
            <a:ext cx="54864" cy="59436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54" name="Text 52"/>
          <p:cNvSpPr/>
          <p:nvPr/>
        </p:nvSpPr>
        <p:spPr>
          <a:xfrm>
            <a:off x="1554480" y="5833872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3F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2560320" y="5833872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 驱动生成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394960" y="5833872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+ golden + TB + regdef 同源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14400" y="6707124"/>
            <a:ext cx="182880" cy="1828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8" name="Shape 56"/>
          <p:cNvSpPr/>
          <p:nvPr/>
        </p:nvSpPr>
        <p:spPr>
          <a:xfrm>
            <a:off x="1371600" y="6501384"/>
            <a:ext cx="5333695" cy="594360"/>
          </a:xfrm>
          <a:prstGeom prst="rect">
            <a:avLst/>
          </a:prstGeom>
          <a:solidFill>
            <a:srgbClr val="1A2540"/>
          </a:solidFill>
          <a:ln w="6350">
            <a:solidFill>
              <a:srgbClr val="2A375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371600" y="6501384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0" name="Text 58"/>
          <p:cNvSpPr/>
          <p:nvPr/>
        </p:nvSpPr>
        <p:spPr>
          <a:xfrm>
            <a:off x="1554480" y="6501384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v1.0.1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2560320" y="6501384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兼容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394960" y="6501384"/>
            <a:ext cx="396209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跨平台完整支持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7772400" y="1828800"/>
            <a:ext cx="3870655" cy="5266944"/>
          </a:xfrm>
          <a:prstGeom prst="rect">
            <a:avLst/>
          </a:prstGeom>
          <a:solidFill>
            <a:srgbClr val="223052"/>
          </a:solidFill>
          <a:ln w="12700">
            <a:solidFill>
              <a:srgbClr val="8B5CF6"/>
            </a:solidFill>
            <a:prstDash val="dash"/>
          </a:ln>
        </p:spPr>
      </p:sp>
      <p:pic>
        <p:nvPicPr>
          <p:cNvPr id="6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011680"/>
            <a:ext cx="411480" cy="411480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8503920" y="202996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后续路线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7955280" y="2606040"/>
            <a:ext cx="3687775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Verilator C++ 联合仿真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（更高性能）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 自动化回归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测试流水线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4267093" y="0"/>
            <a:ext cx="4876678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7924602" y="0"/>
            <a:ext cx="4267093" cy="5486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84124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轻量、可复现、零外部依赖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8046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Shape 6"/>
          <p:cNvSpPr/>
          <p:nvPr/>
        </p:nvSpPr>
        <p:spPr>
          <a:xfrm>
            <a:off x="586588" y="1554480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6588" y="1554480"/>
            <a:ext cx="64008" cy="182880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756" y="1755648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72388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仿真引擎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7756" y="2194560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Icarus Verilog (iverilog) 13.0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开源轻量，-g2012 支持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35628" y="1554480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35628" y="1554480"/>
            <a:ext cx="64008" cy="18288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6796" y="1755648"/>
            <a:ext cx="384048" cy="38404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21428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扩展形态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36796" y="2194560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Trae / VS Code 扩展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JavaScript，零外部依赖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84668" y="1554480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84668" y="1554480"/>
            <a:ext cx="64008" cy="182880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836" y="1755648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770468" y="171907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工具链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285836" y="2194560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+ OpenCV / NumPy / Pillow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项目内 venv，自动安装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86588" y="3584448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86588" y="3584448"/>
            <a:ext cx="64008" cy="18288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56" y="3785616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72388" y="37490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波形查看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87756" y="4224528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VaporView 扩展打开 VCD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IDE 内直接调试时序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335628" y="3584448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335628" y="3584448"/>
            <a:ext cx="64008" cy="18288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796" y="3785616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021428" y="37490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4536796" y="4224528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Webview 控制台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维分析独立弹窗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8084668" y="3584448"/>
            <a:ext cx="3520440" cy="1828800"/>
          </a:xfrm>
          <a:prstGeom prst="rect">
            <a:avLst/>
          </a:prstGeom>
          <a:solidFill>
            <a:srgbClr val="1A2540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84668" y="3584448"/>
            <a:ext cx="64008" cy="1828800"/>
          </a:xfrm>
          <a:prstGeom prst="rect">
            <a:avLst/>
          </a:prstGeom>
          <a:solidFill>
            <a:srgbClr val="F43F5E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5836" y="3785616"/>
            <a:ext cx="384048" cy="384048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770468" y="37490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配置链路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8285836" y="4224528"/>
            <a:ext cx="31363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IP regdef.json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可编辑寄存器表 → BFM 注入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1371600" y="5623560"/>
            <a:ext cx="9448495" cy="640080"/>
          </a:xfrm>
          <a:prstGeom prst="rect">
            <a:avLst/>
          </a:prstGeom>
          <a:solidFill>
            <a:srgbClr val="223052"/>
          </a:solidFill>
          <a:ln w="9525">
            <a:solidFill>
              <a:srgbClr val="2A375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371600" y="562356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6B6D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导入图像 → 一键仿真 → 量化质量。让视频 IP 验证像写一句话一样简单。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6350">
            <a:solidFill>
              <a:srgbClr val="2A3756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371600"/>
            <a:ext cx="4572000" cy="4572000"/>
          </a:xfrm>
          <a:prstGeom prst="ellipse">
            <a:avLst/>
          </a:prstGeom>
          <a:solidFill>
            <a:srgbClr val="8B5CF6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Shape 3"/>
          <p:cNvSpPr/>
          <p:nvPr/>
        </p:nvSpPr>
        <p:spPr>
          <a:xfrm>
            <a:off x="4023259" y="0"/>
            <a:ext cx="4145176" cy="731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8046519" y="0"/>
            <a:ext cx="4145176" cy="7315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价值总结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31520" y="1261872"/>
            <a:ext cx="4572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Shape 7"/>
          <p:cNvSpPr/>
          <p:nvPr/>
        </p:nvSpPr>
        <p:spPr>
          <a:xfrm>
            <a:off x="472288" y="1600200"/>
            <a:ext cx="2606040" cy="2286000"/>
          </a:xfrm>
          <a:prstGeom prst="rect">
            <a:avLst/>
          </a:prstGeom>
          <a:solidFill>
            <a:srgbClr val="1A25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288" y="1600200"/>
            <a:ext cx="260604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Shape 9"/>
          <p:cNvSpPr/>
          <p:nvPr/>
        </p:nvSpPr>
        <p:spPr>
          <a:xfrm>
            <a:off x="1455268" y="1828800"/>
            <a:ext cx="640080" cy="640080"/>
          </a:xfrm>
          <a:prstGeom prst="ellipse">
            <a:avLst/>
          </a:prstGeom>
          <a:solidFill>
            <a:srgbClr val="F59E0B">
              <a:alpha val="25000"/>
            </a:srgbClr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428" y="1965960"/>
            <a:ext cx="365760" cy="36576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9448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效率提升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5168" y="30175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从手写激励脚本到一键仿真，验证效率提升数倍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352648" y="1600200"/>
            <a:ext cx="2606040" cy="2286000"/>
          </a:xfrm>
          <a:prstGeom prst="rect">
            <a:avLst/>
          </a:prstGeom>
          <a:solidFill>
            <a:srgbClr val="1A254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52648" y="1600200"/>
            <a:ext cx="260604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Shape 14"/>
          <p:cNvSpPr/>
          <p:nvPr/>
        </p:nvSpPr>
        <p:spPr>
          <a:xfrm>
            <a:off x="4335628" y="1828800"/>
            <a:ext cx="640080" cy="640080"/>
          </a:xfrm>
          <a:prstGeom prst="ellipse">
            <a:avLst/>
          </a:prstGeom>
          <a:solidFill>
            <a:srgbClr val="10B981">
              <a:alpha val="25000"/>
            </a:srgbClr>
          </a:solidFill>
          <a:ln w="19050">
            <a:solidFill>
              <a:srgbClr val="10B981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788" y="19659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89808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535528" y="30175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金标准按位比对，自动 PASS/FAIL 判定，消除人为遗漏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33008" y="1600200"/>
            <a:ext cx="2606040" cy="2286000"/>
          </a:xfrm>
          <a:prstGeom prst="rect">
            <a:avLst/>
          </a:prstGeom>
          <a:solidFill>
            <a:srgbClr val="1A2540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33008" y="1600200"/>
            <a:ext cx="260604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Shape 19"/>
          <p:cNvSpPr/>
          <p:nvPr/>
        </p:nvSpPr>
        <p:spPr>
          <a:xfrm>
            <a:off x="7215988" y="1828800"/>
            <a:ext cx="640080" cy="640080"/>
          </a:xfrm>
          <a:prstGeom prst="ellipse">
            <a:avLst/>
          </a:prstGeom>
          <a:solidFill>
            <a:srgbClr val="3B82F6">
              <a:alpha val="25000"/>
            </a:srgbClr>
          </a:solidFill>
          <a:ln w="19050">
            <a:solidFill>
              <a:srgbClr val="3B82F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3148" y="196596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70168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降低门槛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6415888" y="30175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图形化控制台 + Vibe Coding，新手也能快速上手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9113368" y="1600200"/>
            <a:ext cx="2606040" cy="2286000"/>
          </a:xfrm>
          <a:prstGeom prst="rect">
            <a:avLst/>
          </a:prstGeom>
          <a:solidFill>
            <a:srgbClr val="1A254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113368" y="1600200"/>
            <a:ext cx="2606040" cy="6400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9" name="Shape 24"/>
          <p:cNvSpPr/>
          <p:nvPr/>
        </p:nvSpPr>
        <p:spPr>
          <a:xfrm>
            <a:off x="10096348" y="1828800"/>
            <a:ext cx="640080" cy="640080"/>
          </a:xfrm>
          <a:prstGeom prst="ellipse">
            <a:avLst/>
          </a:prstGeom>
          <a:solidFill>
            <a:srgbClr val="8B5CF6">
              <a:alpha val="25000"/>
            </a:srgbClr>
          </a:solidFill>
          <a:ln w="19050">
            <a:solidFill>
              <a:srgbClr val="8B5CF6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3508" y="1965960"/>
            <a:ext cx="365760" cy="3657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250528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持续演进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9296248" y="30175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导入工程 + Spec 生成 + 跨平台，功能持续扩展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1371600" y="4343400"/>
            <a:ext cx="9448495" cy="1371600"/>
          </a:xfrm>
          <a:prstGeom prst="rect">
            <a:avLst/>
          </a:prstGeom>
          <a:solidFill>
            <a:srgbClr val="223052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1371600" y="448056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5" name="Text 29"/>
          <p:cNvSpPr/>
          <p:nvPr/>
        </p:nvSpPr>
        <p:spPr>
          <a:xfrm>
            <a:off x="1371600" y="5074920"/>
            <a:ext cx="94484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VIP Sim · awesom 视频处理 IP 仿真验证平台  ·  v1.2.0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1371600" y="5394960"/>
            <a:ext cx="94484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Trae / VS Code 扩展  ·  code --install-extension vip-sim-1.0.1.vsix</a:t>
            </a:r>
            <a:endParaRPr lang="en-US" sz="1200" dirty="0"/>
          </a:p>
        </p:txBody>
      </p:sp>
      <p:sp>
        <p:nvSpPr>
          <p:cNvPr id="37" name="Text 31"/>
          <p:cNvSpPr/>
          <p:nvPr/>
        </p:nvSpPr>
        <p:spPr>
          <a:xfrm>
            <a:off x="10362895" y="64922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VIP Sim 平台介绍</dc:title>
  <dc:subject>PptxGenJS Presentation</dc:subject>
  <dc:creator>awesom</dc:creator>
  <cp:lastModifiedBy>awesom</cp:lastModifiedBy>
  <cp:revision>1</cp:revision>
  <dcterms:created xsi:type="dcterms:W3CDTF">2026-06-24T13:12:23Z</dcterms:created>
  <dcterms:modified xsi:type="dcterms:W3CDTF">2026-06-24T13:12:23Z</dcterms:modified>
</cp:coreProperties>
</file>